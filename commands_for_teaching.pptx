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743200"/>
            <a:ext cx="3657600" cy="4572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8273F"/>
                </a:solidFill>
                <a:latin typeface="Helvetica Neue"/>
              </a:rPr>
              <a:t>Commands for Teaching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E7A8A"/>
                </a:solidFill>
                <a:latin typeface="Helvetica Neue"/>
              </a:rPr>
              <a:t>Designing a Claude system through 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73F"/>
                </a:solidFill>
                <a:latin typeface="Helvetica Neue"/>
              </a:rPr>
              <a:t>A research framework already existed.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332720" cy="36576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Courier New"/>
              </a:rPr>
              <a:t>/setup       scaffold 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Courier New"/>
              </a:rPr>
              <a:t>/collect      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Courier New"/>
              </a:rPr>
              <a:t>/literature   find &amp; map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Courier New"/>
              </a:rPr>
              <a:t>/analyze      run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Courier New"/>
              </a:rPr>
              <a:t>/discuss      Socratic dialogue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Courier New"/>
              </a:rPr>
              <a:t>/notes        capture knowledge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36576" cy="457200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73F"/>
                </a:solidFill>
                <a:latin typeface="Helvetica Neue"/>
              </a:rPr>
              <a:t>Teaching is not research.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>Different artefacts: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>slides, readings, assignments,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>speaking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519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>Different horizon: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663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>student workload, semester rhythm,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623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7A8A"/>
                </a:solidFill>
                <a:latin typeface="Helvetica Neue"/>
              </a:rPr>
              <a:t>formal course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Before building, questions were asked.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1737360" cy="62179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013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01368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ED8"/>
                </a:solidFill>
                <a:latin typeface="Helvetica Neue"/>
              </a:rPr>
              <a:t>What format? What breaks layout consistency? Is feedback visual, pedagogical, or both?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87752"/>
            <a:ext cx="1737360" cy="62179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97480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ED8"/>
                </a:solidFill>
                <a:latin typeface="Helvetica Neue"/>
              </a:rPr>
              <a:t>Zotero for course lists — lecture folders with optional and background sub-folders?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83864"/>
            <a:ext cx="1737360" cy="62179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Assignments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59359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ED8"/>
                </a:solidFill>
                <a:latin typeface="Helvetica Neue"/>
              </a:rPr>
              <a:t>Feedback on your design — or help generating them — or both?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79976"/>
            <a:ext cx="1737360" cy="62179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97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Whole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489704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ED8"/>
                </a:solidFill>
                <a:latin typeface="Helvetica Neue"/>
              </a:rPr>
              <a:t>Coherence, progression, workload, match between course description and delivery?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76088"/>
            <a:ext cx="1737360" cy="62179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858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385816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ED8"/>
                </a:solidFill>
                <a:latin typeface="Helvetica Neue"/>
              </a:rPr>
              <a:t>General commands for every course you teach, not this one specifically.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8273F"/>
                </a:solidFill>
                <a:latin typeface="Helvetica Neue"/>
              </a:rPr>
              <a:t>Seven commands.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424160" cy="4572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/teach-setup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007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Scaffold a new course: folders, CLAUDE.md, Zotero collections per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/teach-lit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865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Socratic + Zotero — organise readings, generate teaching summaries, audit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/slide-review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723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Layout consistency and pedagogical effectiveness — does content serve the message?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/speaking-notes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581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Turn loose thoughts into polished per-slide speaking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/teach-notes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439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Capture notes at course, lecture, or individual slide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/course-review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1297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Whole-course audit: coherence, progression, workload, alignment with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2BD"/>
                </a:solidFill>
                <a:latin typeface="Courier New"/>
              </a:rPr>
              <a:t>/teach-discuss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81558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8273F"/>
                </a:solidFill>
                <a:latin typeface="Helvetica Neue"/>
              </a:rPr>
              <a:t>Socratic partner for pedagogy, content, or assignment design — asks, does not prescribe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8273F"/>
                </a:solidFill>
                <a:latin typeface="Helvetica Neue"/>
              </a:rPr>
              <a:t>Read context, then 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E7A8A"/>
                </a:solidFill>
                <a:latin typeface="Helvetica Neue"/>
              </a:rPr>
              <a:t>Every command reads the course folder before asking a single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06040"/>
            <a:ext cx="54864" cy="59436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79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73F"/>
                </a:solidFill>
                <a:latin typeface="Courier New"/>
              </a:rPr>
              <a:t>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7157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Helvetica Neue"/>
              </a:rPr>
              <a:t>course level, workload, pedagogical approach, slide 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02152"/>
            <a:ext cx="54864" cy="59436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753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73F"/>
                </a:solidFill>
                <a:latin typeface="Courier New"/>
              </a:rPr>
              <a:t>objectives.md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611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Helvetica Neue"/>
              </a:rPr>
              <a:t>what this lecture must achieve — so questions are already grounded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98264"/>
            <a:ext cx="54864" cy="59436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4714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73F"/>
                </a:solidFill>
                <a:latin typeface="Courier New"/>
              </a:rPr>
              <a:t>readings.md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5079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Helvetica Neue"/>
              </a:rPr>
              <a:t>what students have read — so references are accurate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294376"/>
            <a:ext cx="54864" cy="59436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367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73F"/>
                </a:solidFill>
                <a:latin typeface="Courier New"/>
              </a:rPr>
              <a:t>notes/INDEX.md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404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8A"/>
                </a:solidFill>
                <a:latin typeface="Helvetica Neue"/>
              </a:rPr>
              <a:t>prior decisions — so nothing is asked twice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Socratic, not prescriptive.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ED8"/>
                </a:solidFill>
                <a:latin typeface="Helvetica Neue"/>
              </a:rPr>
              <a:t>Three commands are dialogues. They push back before they produce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10424160" cy="1143000"/>
          </a:xfrm>
          <a:prstGeom prst="rect">
            <a:avLst/>
          </a:prstGeom>
          <a:solidFill>
            <a:srgbClr val="22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2BD"/>
                </a:solidFill>
                <a:latin typeface="Courier New"/>
              </a:rPr>
              <a:t>/teach-discuss pedagogy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CED8"/>
                </a:solidFill>
                <a:latin typeface="Helvetica Neue"/>
              </a:rPr>
              <a:t>"Is your progression designed for the students you have,
or the ones you wish you had?"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0424160" cy="1143000"/>
          </a:xfrm>
          <a:prstGeom prst="rect">
            <a:avLst/>
          </a:prstGeom>
          <a:solidFill>
            <a:srgbClr val="22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2BD"/>
                </a:solidFill>
                <a:latin typeface="Courier New"/>
              </a:rPr>
              <a:t>/teach-discuss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CED8"/>
                </a:solidFill>
                <a:latin typeface="Helvetica Neue"/>
              </a:rPr>
              <a:t>"Are you including this because it is essential,
or because you find it interesting?"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20640"/>
            <a:ext cx="10424160" cy="1143000"/>
          </a:xfrm>
          <a:prstGeom prst="rect">
            <a:avLst/>
          </a:prstGeom>
          <a:solidFill>
            <a:srgbClr val="22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2BD"/>
                </a:solidFill>
                <a:latin typeface="Courier New"/>
              </a:rPr>
              <a:t>/teach-discuss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235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CED8"/>
                </a:solidFill>
                <a:latin typeface="Helvetica Neue"/>
              </a:rPr>
              <a:t>"Could a student complete this without engaging with the course?
If so — what does that tell you?"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8273F"/>
                </a:solidFill>
                <a:latin typeface="Helvetica Neue"/>
              </a:rPr>
              <a:t>The folder is the shared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7A8A"/>
                </a:solidFill>
                <a:latin typeface="Helvetica Neue"/>
              </a:rPr>
              <a:t>All commands read from and write to the same structure. Context accumulates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73F"/>
                </a:solidFill>
                <a:latin typeface="Courier New"/>
              </a:rPr>
              <a:t>course/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066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2491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course context, workload, approach, slide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272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course_description.md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145536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formal objectives and assessment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73F"/>
                </a:solidFill>
                <a:latin typeface="Courier New"/>
              </a:rPr>
              <a:t>lectures/01-topic/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684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objectives.md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86784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what this lecture must achieve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readings.md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40740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teaching summaries + workload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97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speaking_notes.md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2803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generated from /speaking-notes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2303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notes.md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248656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reflections, decisions,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50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73F"/>
                </a:solidFill>
                <a:latin typeface="Courier New"/>
              </a:rPr>
              <a:t>slides/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66928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read by /slide-review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0716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A8A"/>
                </a:solidFill>
                <a:latin typeface="Courier New"/>
              </a:rPr>
              <a:t>notes/INDEX.md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089904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CED8"/>
                </a:solidFill>
                <a:latin typeface="Helvetica Neue"/>
              </a:rPr>
              <a:t>←  course-level knowledge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Helvetica Neue"/>
              </a:rPr>
              <a:t>Open a course folder.
The system starts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72BD"/>
                </a:solidFill>
                <a:latin typeface="Courier New"/>
              </a:rPr>
              <a:t>/teach-setup  →  /teach-lit  →  /slide-review  →  /course-review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